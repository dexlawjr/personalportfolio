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80" r:id="rId3"/>
    <p:sldId id="275" r:id="rId4"/>
    <p:sldId id="279" r:id="rId5"/>
    <p:sldId id="284" r:id="rId6"/>
    <p:sldId id="283" r:id="rId7"/>
    <p:sldId id="282" r:id="rId8"/>
    <p:sldId id="281" r:id="rId9"/>
    <p:sldId id="273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xter Law" initials="DL" lastIdx="1" clrIdx="0">
    <p:extLst>
      <p:ext uri="{19B8F6BF-5375-455C-9EA6-DF929625EA0E}">
        <p15:presenceInfo xmlns:p15="http://schemas.microsoft.com/office/powerpoint/2012/main" userId="S::dlaw@omnitracs.com::09abb55b-f7a9-44e6-8ae9-46798b8fe80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842" autoAdjust="0"/>
    <p:restoredTop sz="77883" autoAdjust="0"/>
  </p:normalViewPr>
  <p:slideViewPr>
    <p:cSldViewPr snapToGrid="0">
      <p:cViewPr varScale="1">
        <p:scale>
          <a:sx n="27" d="100"/>
          <a:sy n="27" d="100"/>
        </p:scale>
        <p:origin x="64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587779-E922-405E-A90B-6CD2DD80B33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8D8417-3E9D-4F2F-8C60-3AD31C55AA4E}">
      <dgm:prSet phldrT="[Text]"/>
      <dgm:spPr/>
      <dgm:t>
        <a:bodyPr/>
        <a:lstStyle/>
        <a:p>
          <a:r>
            <a:rPr lang="en-US" dirty="0"/>
            <a:t>Defining Security Processes</a:t>
          </a:r>
        </a:p>
      </dgm:t>
    </dgm:pt>
    <dgm:pt modelId="{E0CFE379-6C0F-4998-AB39-74ED745595BE}" type="parTrans" cxnId="{12146F77-7544-4C79-9704-DA4B229BA92D}">
      <dgm:prSet/>
      <dgm:spPr/>
      <dgm:t>
        <a:bodyPr/>
        <a:lstStyle/>
        <a:p>
          <a:endParaRPr lang="en-US"/>
        </a:p>
      </dgm:t>
    </dgm:pt>
    <dgm:pt modelId="{904B3AD4-0995-41D0-B74A-89F84B9AEC86}" type="sibTrans" cxnId="{12146F77-7544-4C79-9704-DA4B229BA92D}">
      <dgm:prSet/>
      <dgm:spPr/>
      <dgm:t>
        <a:bodyPr/>
        <a:lstStyle/>
        <a:p>
          <a:endParaRPr lang="en-US"/>
        </a:p>
      </dgm:t>
    </dgm:pt>
    <dgm:pt modelId="{7D6F5A19-D79E-4563-A954-C0D510EB2B55}">
      <dgm:prSet phldrT="[Text]"/>
      <dgm:spPr/>
      <dgm:t>
        <a:bodyPr/>
        <a:lstStyle/>
        <a:p>
          <a:r>
            <a:rPr lang="en-US" dirty="0"/>
            <a:t>Creating an Application Diagram</a:t>
          </a:r>
        </a:p>
      </dgm:t>
    </dgm:pt>
    <dgm:pt modelId="{BE8E4655-0E79-4F9F-8A1F-0AB2141725AA}" type="parTrans" cxnId="{BBE5DEE2-8FBB-4010-AC28-4F9886CDFE6B}">
      <dgm:prSet/>
      <dgm:spPr/>
      <dgm:t>
        <a:bodyPr/>
        <a:lstStyle/>
        <a:p>
          <a:endParaRPr lang="en-US"/>
        </a:p>
      </dgm:t>
    </dgm:pt>
    <dgm:pt modelId="{58B9B80F-45E7-4F5E-9C63-0EABD1DD9AE4}" type="sibTrans" cxnId="{BBE5DEE2-8FBB-4010-AC28-4F9886CDFE6B}">
      <dgm:prSet/>
      <dgm:spPr/>
      <dgm:t>
        <a:bodyPr/>
        <a:lstStyle/>
        <a:p>
          <a:endParaRPr lang="en-US"/>
        </a:p>
      </dgm:t>
    </dgm:pt>
    <dgm:pt modelId="{C9197561-55EA-4942-893B-D3928DD03A2B}">
      <dgm:prSet phldrT="[Text]"/>
      <dgm:spPr/>
      <dgm:t>
        <a:bodyPr/>
        <a:lstStyle/>
        <a:p>
          <a:r>
            <a:rPr lang="en-US" dirty="0"/>
            <a:t>Identifying Threats</a:t>
          </a:r>
        </a:p>
      </dgm:t>
    </dgm:pt>
    <dgm:pt modelId="{B469DF7B-FD31-40FD-83CB-DA3A648ACA1B}" type="parTrans" cxnId="{F1FD8D75-B178-43D7-901F-72723011F1EF}">
      <dgm:prSet/>
      <dgm:spPr/>
      <dgm:t>
        <a:bodyPr/>
        <a:lstStyle/>
        <a:p>
          <a:endParaRPr lang="en-US"/>
        </a:p>
      </dgm:t>
    </dgm:pt>
    <dgm:pt modelId="{A8497954-23DB-40F6-B587-47808F66ED64}" type="sibTrans" cxnId="{F1FD8D75-B178-43D7-901F-72723011F1EF}">
      <dgm:prSet/>
      <dgm:spPr/>
      <dgm:t>
        <a:bodyPr/>
        <a:lstStyle/>
        <a:p>
          <a:endParaRPr lang="en-US"/>
        </a:p>
      </dgm:t>
    </dgm:pt>
    <dgm:pt modelId="{B54E5A18-E9F6-4499-8D2D-90BD1D44B111}">
      <dgm:prSet phldrT="[Text]"/>
      <dgm:spPr/>
      <dgm:t>
        <a:bodyPr/>
        <a:lstStyle/>
        <a:p>
          <a:r>
            <a:rPr lang="en-US" dirty="0"/>
            <a:t>Mitigating Threats</a:t>
          </a:r>
        </a:p>
      </dgm:t>
    </dgm:pt>
    <dgm:pt modelId="{DADA06A2-9F33-458E-8FDC-E87206C1DB90}" type="parTrans" cxnId="{ADA6DA37-949A-45DD-B7CD-B13559FD4237}">
      <dgm:prSet/>
      <dgm:spPr/>
      <dgm:t>
        <a:bodyPr/>
        <a:lstStyle/>
        <a:p>
          <a:endParaRPr lang="en-US"/>
        </a:p>
      </dgm:t>
    </dgm:pt>
    <dgm:pt modelId="{0DDA3A2F-F73F-4791-86B0-FDF4D12497E9}" type="sibTrans" cxnId="{ADA6DA37-949A-45DD-B7CD-B13559FD4237}">
      <dgm:prSet/>
      <dgm:spPr/>
      <dgm:t>
        <a:bodyPr/>
        <a:lstStyle/>
        <a:p>
          <a:endParaRPr lang="en-US"/>
        </a:p>
      </dgm:t>
    </dgm:pt>
    <dgm:pt modelId="{21350581-52A8-4322-872E-D0997C43531B}">
      <dgm:prSet phldrT="[Text]"/>
      <dgm:spPr/>
      <dgm:t>
        <a:bodyPr/>
        <a:lstStyle/>
        <a:p>
          <a:r>
            <a:rPr lang="en-US" dirty="0"/>
            <a:t>Validating Threat Have Been Mitigated </a:t>
          </a:r>
        </a:p>
      </dgm:t>
    </dgm:pt>
    <dgm:pt modelId="{916E1D9C-9F2E-4B65-9A5E-1CDC02FBD406}" type="parTrans" cxnId="{10B7E603-37C8-4EC4-A3FE-EE200F138E21}">
      <dgm:prSet/>
      <dgm:spPr/>
      <dgm:t>
        <a:bodyPr/>
        <a:lstStyle/>
        <a:p>
          <a:endParaRPr lang="en-US"/>
        </a:p>
      </dgm:t>
    </dgm:pt>
    <dgm:pt modelId="{8A225AFC-2C4F-4344-A25A-901A239BD9E0}" type="sibTrans" cxnId="{10B7E603-37C8-4EC4-A3FE-EE200F138E21}">
      <dgm:prSet/>
      <dgm:spPr/>
      <dgm:t>
        <a:bodyPr/>
        <a:lstStyle/>
        <a:p>
          <a:endParaRPr lang="en-US"/>
        </a:p>
      </dgm:t>
    </dgm:pt>
    <dgm:pt modelId="{DD5C20F7-E68E-49AB-A27C-22B2FFAFA9D4}" type="pres">
      <dgm:prSet presAssocID="{F5587779-E922-405E-A90B-6CD2DD80B338}" presName="Name0" presStyleCnt="0">
        <dgm:presLayoutVars>
          <dgm:dir/>
          <dgm:resizeHandles val="exact"/>
        </dgm:presLayoutVars>
      </dgm:prSet>
      <dgm:spPr/>
    </dgm:pt>
    <dgm:pt modelId="{021660A5-23DA-4290-A91E-9B5982C7319B}" type="pres">
      <dgm:prSet presAssocID="{768D8417-3E9D-4F2F-8C60-3AD31C55AA4E}" presName="node" presStyleLbl="node1" presStyleIdx="0" presStyleCnt="5">
        <dgm:presLayoutVars>
          <dgm:bulletEnabled val="1"/>
        </dgm:presLayoutVars>
      </dgm:prSet>
      <dgm:spPr/>
    </dgm:pt>
    <dgm:pt modelId="{18EE07AD-A458-416D-8534-8779161AD515}" type="pres">
      <dgm:prSet presAssocID="{904B3AD4-0995-41D0-B74A-89F84B9AEC86}" presName="sibTrans" presStyleLbl="sibTrans1D1" presStyleIdx="0" presStyleCnt="4"/>
      <dgm:spPr/>
    </dgm:pt>
    <dgm:pt modelId="{EC9765C0-0E85-459E-A8F5-451099E99B4B}" type="pres">
      <dgm:prSet presAssocID="{904B3AD4-0995-41D0-B74A-89F84B9AEC86}" presName="connectorText" presStyleLbl="sibTrans1D1" presStyleIdx="0" presStyleCnt="4"/>
      <dgm:spPr/>
    </dgm:pt>
    <dgm:pt modelId="{31C4071E-18DA-4C04-9531-3D75DAAC05BE}" type="pres">
      <dgm:prSet presAssocID="{7D6F5A19-D79E-4563-A954-C0D510EB2B55}" presName="node" presStyleLbl="node1" presStyleIdx="1" presStyleCnt="5" custLinFactNeighborX="10" custLinFactNeighborY="-8425">
        <dgm:presLayoutVars>
          <dgm:bulletEnabled val="1"/>
        </dgm:presLayoutVars>
      </dgm:prSet>
      <dgm:spPr/>
    </dgm:pt>
    <dgm:pt modelId="{3F2DE173-A33D-45FF-8214-21129C858393}" type="pres">
      <dgm:prSet presAssocID="{58B9B80F-45E7-4F5E-9C63-0EABD1DD9AE4}" presName="sibTrans" presStyleLbl="sibTrans1D1" presStyleIdx="1" presStyleCnt="4"/>
      <dgm:spPr/>
    </dgm:pt>
    <dgm:pt modelId="{5DCE0344-73E4-4B0A-B30C-C0151F402815}" type="pres">
      <dgm:prSet presAssocID="{58B9B80F-45E7-4F5E-9C63-0EABD1DD9AE4}" presName="connectorText" presStyleLbl="sibTrans1D1" presStyleIdx="1" presStyleCnt="4"/>
      <dgm:spPr/>
    </dgm:pt>
    <dgm:pt modelId="{90B16147-B296-495B-9F39-B32515F3AA9F}" type="pres">
      <dgm:prSet presAssocID="{C9197561-55EA-4942-893B-D3928DD03A2B}" presName="node" presStyleLbl="node1" presStyleIdx="2" presStyleCnt="5" custLinFactNeighborY="-2414">
        <dgm:presLayoutVars>
          <dgm:bulletEnabled val="1"/>
        </dgm:presLayoutVars>
      </dgm:prSet>
      <dgm:spPr/>
    </dgm:pt>
    <dgm:pt modelId="{CE64C546-85A9-4063-88C0-7F90E0BD751D}" type="pres">
      <dgm:prSet presAssocID="{A8497954-23DB-40F6-B587-47808F66ED64}" presName="sibTrans" presStyleLbl="sibTrans1D1" presStyleIdx="2" presStyleCnt="4"/>
      <dgm:spPr/>
    </dgm:pt>
    <dgm:pt modelId="{33F787BE-6AD7-418A-8304-B6922165296D}" type="pres">
      <dgm:prSet presAssocID="{A8497954-23DB-40F6-B587-47808F66ED64}" presName="connectorText" presStyleLbl="sibTrans1D1" presStyleIdx="2" presStyleCnt="4"/>
      <dgm:spPr/>
    </dgm:pt>
    <dgm:pt modelId="{0F47E5D6-176D-46DC-BD9D-B3B85AAB8B1E}" type="pres">
      <dgm:prSet presAssocID="{B54E5A18-E9F6-4499-8D2D-90BD1D44B111}" presName="node" presStyleLbl="node1" presStyleIdx="3" presStyleCnt="5">
        <dgm:presLayoutVars>
          <dgm:bulletEnabled val="1"/>
        </dgm:presLayoutVars>
      </dgm:prSet>
      <dgm:spPr/>
    </dgm:pt>
    <dgm:pt modelId="{11DFCA83-AE3A-43AB-A6D6-41FFD29BE609}" type="pres">
      <dgm:prSet presAssocID="{0DDA3A2F-F73F-4791-86B0-FDF4D12497E9}" presName="sibTrans" presStyleLbl="sibTrans1D1" presStyleIdx="3" presStyleCnt="4"/>
      <dgm:spPr/>
    </dgm:pt>
    <dgm:pt modelId="{A5F47E3E-57C5-4434-BF16-0C4DD398738C}" type="pres">
      <dgm:prSet presAssocID="{0DDA3A2F-F73F-4791-86B0-FDF4D12497E9}" presName="connectorText" presStyleLbl="sibTrans1D1" presStyleIdx="3" presStyleCnt="4"/>
      <dgm:spPr/>
    </dgm:pt>
    <dgm:pt modelId="{724A672C-BAC8-4E76-9EB3-1742A71FF8E2}" type="pres">
      <dgm:prSet presAssocID="{21350581-52A8-4322-872E-D0997C43531B}" presName="node" presStyleLbl="node1" presStyleIdx="4" presStyleCnt="5" custLinFactNeighborX="10" custLinFactNeighborY="22486">
        <dgm:presLayoutVars>
          <dgm:bulletEnabled val="1"/>
        </dgm:presLayoutVars>
      </dgm:prSet>
      <dgm:spPr/>
    </dgm:pt>
  </dgm:ptLst>
  <dgm:cxnLst>
    <dgm:cxn modelId="{10B7E603-37C8-4EC4-A3FE-EE200F138E21}" srcId="{F5587779-E922-405E-A90B-6CD2DD80B338}" destId="{21350581-52A8-4322-872E-D0997C43531B}" srcOrd="4" destOrd="0" parTransId="{916E1D9C-9F2E-4B65-9A5E-1CDC02FBD406}" sibTransId="{8A225AFC-2C4F-4344-A25A-901A239BD9E0}"/>
    <dgm:cxn modelId="{E91F5D2C-5F55-48FB-BA06-649F6E21D136}" type="presOf" srcId="{A8497954-23DB-40F6-B587-47808F66ED64}" destId="{CE64C546-85A9-4063-88C0-7F90E0BD751D}" srcOrd="0" destOrd="0" presId="urn:microsoft.com/office/officeart/2005/8/layout/bProcess3"/>
    <dgm:cxn modelId="{E452BB2D-1057-4DE4-A82B-C2199F73DD07}" type="presOf" srcId="{B54E5A18-E9F6-4499-8D2D-90BD1D44B111}" destId="{0F47E5D6-176D-46DC-BD9D-B3B85AAB8B1E}" srcOrd="0" destOrd="0" presId="urn:microsoft.com/office/officeart/2005/8/layout/bProcess3"/>
    <dgm:cxn modelId="{97035E31-F8AF-41C9-A0F1-6C4DB141600E}" type="presOf" srcId="{0DDA3A2F-F73F-4791-86B0-FDF4D12497E9}" destId="{11DFCA83-AE3A-43AB-A6D6-41FFD29BE609}" srcOrd="0" destOrd="0" presId="urn:microsoft.com/office/officeart/2005/8/layout/bProcess3"/>
    <dgm:cxn modelId="{9269D234-5379-429F-B23F-DFFA058E6FFA}" type="presOf" srcId="{904B3AD4-0995-41D0-B74A-89F84B9AEC86}" destId="{EC9765C0-0E85-459E-A8F5-451099E99B4B}" srcOrd="1" destOrd="0" presId="urn:microsoft.com/office/officeart/2005/8/layout/bProcess3"/>
    <dgm:cxn modelId="{F67BF934-A028-4A66-B2B1-5297D5E3884F}" type="presOf" srcId="{58B9B80F-45E7-4F5E-9C63-0EABD1DD9AE4}" destId="{3F2DE173-A33D-45FF-8214-21129C858393}" srcOrd="0" destOrd="0" presId="urn:microsoft.com/office/officeart/2005/8/layout/bProcess3"/>
    <dgm:cxn modelId="{ADA6DA37-949A-45DD-B7CD-B13559FD4237}" srcId="{F5587779-E922-405E-A90B-6CD2DD80B338}" destId="{B54E5A18-E9F6-4499-8D2D-90BD1D44B111}" srcOrd="3" destOrd="0" parTransId="{DADA06A2-9F33-458E-8FDC-E87206C1DB90}" sibTransId="{0DDA3A2F-F73F-4791-86B0-FDF4D12497E9}"/>
    <dgm:cxn modelId="{380A484A-B737-4EC6-BCFA-C6906EB40C71}" type="presOf" srcId="{21350581-52A8-4322-872E-D0997C43531B}" destId="{724A672C-BAC8-4E76-9EB3-1742A71FF8E2}" srcOrd="0" destOrd="0" presId="urn:microsoft.com/office/officeart/2005/8/layout/bProcess3"/>
    <dgm:cxn modelId="{F1FD8D75-B178-43D7-901F-72723011F1EF}" srcId="{F5587779-E922-405E-A90B-6CD2DD80B338}" destId="{C9197561-55EA-4942-893B-D3928DD03A2B}" srcOrd="2" destOrd="0" parTransId="{B469DF7B-FD31-40FD-83CB-DA3A648ACA1B}" sibTransId="{A8497954-23DB-40F6-B587-47808F66ED64}"/>
    <dgm:cxn modelId="{FD239476-3FA8-4296-AFA4-2E02B7D39BD7}" type="presOf" srcId="{7D6F5A19-D79E-4563-A954-C0D510EB2B55}" destId="{31C4071E-18DA-4C04-9531-3D75DAAC05BE}" srcOrd="0" destOrd="0" presId="urn:microsoft.com/office/officeart/2005/8/layout/bProcess3"/>
    <dgm:cxn modelId="{12146F77-7544-4C79-9704-DA4B229BA92D}" srcId="{F5587779-E922-405E-A90B-6CD2DD80B338}" destId="{768D8417-3E9D-4F2F-8C60-3AD31C55AA4E}" srcOrd="0" destOrd="0" parTransId="{E0CFE379-6C0F-4998-AB39-74ED745595BE}" sibTransId="{904B3AD4-0995-41D0-B74A-89F84B9AEC86}"/>
    <dgm:cxn modelId="{42FA1459-6314-48E1-B9DD-93FEBDCAFBB3}" type="presOf" srcId="{768D8417-3E9D-4F2F-8C60-3AD31C55AA4E}" destId="{021660A5-23DA-4290-A91E-9B5982C7319B}" srcOrd="0" destOrd="0" presId="urn:microsoft.com/office/officeart/2005/8/layout/bProcess3"/>
    <dgm:cxn modelId="{0068B990-3EE3-46C8-A90F-CBFAEA9967B2}" type="presOf" srcId="{58B9B80F-45E7-4F5E-9C63-0EABD1DD9AE4}" destId="{5DCE0344-73E4-4B0A-B30C-C0151F402815}" srcOrd="1" destOrd="0" presId="urn:microsoft.com/office/officeart/2005/8/layout/bProcess3"/>
    <dgm:cxn modelId="{D8C43C92-EAAF-47C5-BF68-64593C996DA1}" type="presOf" srcId="{F5587779-E922-405E-A90B-6CD2DD80B338}" destId="{DD5C20F7-E68E-49AB-A27C-22B2FFAFA9D4}" srcOrd="0" destOrd="0" presId="urn:microsoft.com/office/officeart/2005/8/layout/bProcess3"/>
    <dgm:cxn modelId="{1C521098-FF64-44D3-97CD-456F969B8498}" type="presOf" srcId="{0DDA3A2F-F73F-4791-86B0-FDF4D12497E9}" destId="{A5F47E3E-57C5-4434-BF16-0C4DD398738C}" srcOrd="1" destOrd="0" presId="urn:microsoft.com/office/officeart/2005/8/layout/bProcess3"/>
    <dgm:cxn modelId="{4D15B79A-5593-480D-8A7D-5498FBE25260}" type="presOf" srcId="{904B3AD4-0995-41D0-B74A-89F84B9AEC86}" destId="{18EE07AD-A458-416D-8534-8779161AD515}" srcOrd="0" destOrd="0" presId="urn:microsoft.com/office/officeart/2005/8/layout/bProcess3"/>
    <dgm:cxn modelId="{830F35CF-30BF-4909-A665-76F98E2B95CA}" type="presOf" srcId="{C9197561-55EA-4942-893B-D3928DD03A2B}" destId="{90B16147-B296-495B-9F39-B32515F3AA9F}" srcOrd="0" destOrd="0" presId="urn:microsoft.com/office/officeart/2005/8/layout/bProcess3"/>
    <dgm:cxn modelId="{BBE5DEE2-8FBB-4010-AC28-4F9886CDFE6B}" srcId="{F5587779-E922-405E-A90B-6CD2DD80B338}" destId="{7D6F5A19-D79E-4563-A954-C0D510EB2B55}" srcOrd="1" destOrd="0" parTransId="{BE8E4655-0E79-4F9F-8A1F-0AB2141725AA}" sibTransId="{58B9B80F-45E7-4F5E-9C63-0EABD1DD9AE4}"/>
    <dgm:cxn modelId="{215E78FA-D0D4-4AC6-AEBC-D9E29066B02E}" type="presOf" srcId="{A8497954-23DB-40F6-B587-47808F66ED64}" destId="{33F787BE-6AD7-418A-8304-B6922165296D}" srcOrd="1" destOrd="0" presId="urn:microsoft.com/office/officeart/2005/8/layout/bProcess3"/>
    <dgm:cxn modelId="{1B2262B4-C27D-4EDC-BBE8-A58A584FA527}" type="presParOf" srcId="{DD5C20F7-E68E-49AB-A27C-22B2FFAFA9D4}" destId="{021660A5-23DA-4290-A91E-9B5982C7319B}" srcOrd="0" destOrd="0" presId="urn:microsoft.com/office/officeart/2005/8/layout/bProcess3"/>
    <dgm:cxn modelId="{4773D75E-F859-4B94-9461-AF41390AB5F4}" type="presParOf" srcId="{DD5C20F7-E68E-49AB-A27C-22B2FFAFA9D4}" destId="{18EE07AD-A458-416D-8534-8779161AD515}" srcOrd="1" destOrd="0" presId="urn:microsoft.com/office/officeart/2005/8/layout/bProcess3"/>
    <dgm:cxn modelId="{795AA88B-0778-45AA-AA16-B318713DD5E2}" type="presParOf" srcId="{18EE07AD-A458-416D-8534-8779161AD515}" destId="{EC9765C0-0E85-459E-A8F5-451099E99B4B}" srcOrd="0" destOrd="0" presId="urn:microsoft.com/office/officeart/2005/8/layout/bProcess3"/>
    <dgm:cxn modelId="{D49A6F1A-3832-41EC-AC51-CAE25EFEEEEF}" type="presParOf" srcId="{DD5C20F7-E68E-49AB-A27C-22B2FFAFA9D4}" destId="{31C4071E-18DA-4C04-9531-3D75DAAC05BE}" srcOrd="2" destOrd="0" presId="urn:microsoft.com/office/officeart/2005/8/layout/bProcess3"/>
    <dgm:cxn modelId="{74F2F9AD-53B1-4FEE-B60E-E02CC7D69203}" type="presParOf" srcId="{DD5C20F7-E68E-49AB-A27C-22B2FFAFA9D4}" destId="{3F2DE173-A33D-45FF-8214-21129C858393}" srcOrd="3" destOrd="0" presId="urn:microsoft.com/office/officeart/2005/8/layout/bProcess3"/>
    <dgm:cxn modelId="{62EC8473-8A76-436E-B909-08FF72B80456}" type="presParOf" srcId="{3F2DE173-A33D-45FF-8214-21129C858393}" destId="{5DCE0344-73E4-4B0A-B30C-C0151F402815}" srcOrd="0" destOrd="0" presId="urn:microsoft.com/office/officeart/2005/8/layout/bProcess3"/>
    <dgm:cxn modelId="{F22043CD-58C4-4408-8443-5273EA108C5B}" type="presParOf" srcId="{DD5C20F7-E68E-49AB-A27C-22B2FFAFA9D4}" destId="{90B16147-B296-495B-9F39-B32515F3AA9F}" srcOrd="4" destOrd="0" presId="urn:microsoft.com/office/officeart/2005/8/layout/bProcess3"/>
    <dgm:cxn modelId="{FB1EB47F-2CF4-4474-AFDF-27932840E1CB}" type="presParOf" srcId="{DD5C20F7-E68E-49AB-A27C-22B2FFAFA9D4}" destId="{CE64C546-85A9-4063-88C0-7F90E0BD751D}" srcOrd="5" destOrd="0" presId="urn:microsoft.com/office/officeart/2005/8/layout/bProcess3"/>
    <dgm:cxn modelId="{66903460-3A5D-4FC3-9379-026E2CFA6094}" type="presParOf" srcId="{CE64C546-85A9-4063-88C0-7F90E0BD751D}" destId="{33F787BE-6AD7-418A-8304-B6922165296D}" srcOrd="0" destOrd="0" presId="urn:microsoft.com/office/officeart/2005/8/layout/bProcess3"/>
    <dgm:cxn modelId="{1152F624-7894-4A2B-9647-DA95A97E8C0D}" type="presParOf" srcId="{DD5C20F7-E68E-49AB-A27C-22B2FFAFA9D4}" destId="{0F47E5D6-176D-46DC-BD9D-B3B85AAB8B1E}" srcOrd="6" destOrd="0" presId="urn:microsoft.com/office/officeart/2005/8/layout/bProcess3"/>
    <dgm:cxn modelId="{ACD3E3A5-7BEB-42FE-AF70-9F0CE2969127}" type="presParOf" srcId="{DD5C20F7-E68E-49AB-A27C-22B2FFAFA9D4}" destId="{11DFCA83-AE3A-43AB-A6D6-41FFD29BE609}" srcOrd="7" destOrd="0" presId="urn:microsoft.com/office/officeart/2005/8/layout/bProcess3"/>
    <dgm:cxn modelId="{C6FC383D-3FC3-4E06-BF75-FB2245F1BDC7}" type="presParOf" srcId="{11DFCA83-AE3A-43AB-A6D6-41FFD29BE609}" destId="{A5F47E3E-57C5-4434-BF16-0C4DD398738C}" srcOrd="0" destOrd="0" presId="urn:microsoft.com/office/officeart/2005/8/layout/bProcess3"/>
    <dgm:cxn modelId="{02AFAB01-28D6-424E-8AA0-2902BC9ADF3E}" type="presParOf" srcId="{DD5C20F7-E68E-49AB-A27C-22B2FFAFA9D4}" destId="{724A672C-BAC8-4E76-9EB3-1742A71FF8E2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E07AD-A458-416D-8534-8779161AD515}">
      <dsp:nvSpPr>
        <dsp:cNvPr id="0" name=""/>
        <dsp:cNvSpPr/>
      </dsp:nvSpPr>
      <dsp:spPr>
        <a:xfrm>
          <a:off x="3384001" y="768935"/>
          <a:ext cx="5942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8017"/>
              </a:moveTo>
              <a:lnTo>
                <a:pt x="314220" y="48017"/>
              </a:lnTo>
              <a:lnTo>
                <a:pt x="314220" y="45720"/>
              </a:lnTo>
              <a:lnTo>
                <a:pt x="59424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5501" y="811532"/>
        <a:ext cx="31242" cy="6245"/>
      </dsp:txXfrm>
    </dsp:sp>
    <dsp:sp modelId="{021660A5-23DA-4290-A91E-9B5982C7319B}">
      <dsp:nvSpPr>
        <dsp:cNvPr id="0" name=""/>
        <dsp:cNvSpPr/>
      </dsp:nvSpPr>
      <dsp:spPr>
        <a:xfrm>
          <a:off x="670282" y="2297"/>
          <a:ext cx="2715519" cy="1629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Defining Security Processes</a:t>
          </a:r>
        </a:p>
      </dsp:txBody>
      <dsp:txXfrm>
        <a:off x="670282" y="2297"/>
        <a:ext cx="2715519" cy="1629311"/>
      </dsp:txXfrm>
    </dsp:sp>
    <dsp:sp modelId="{3F2DE173-A33D-45FF-8214-21129C858393}">
      <dsp:nvSpPr>
        <dsp:cNvPr id="0" name=""/>
        <dsp:cNvSpPr/>
      </dsp:nvSpPr>
      <dsp:spPr>
        <a:xfrm>
          <a:off x="6724362" y="768935"/>
          <a:ext cx="593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369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05603" y="811532"/>
        <a:ext cx="31214" cy="6245"/>
      </dsp:txXfrm>
    </dsp:sp>
    <dsp:sp modelId="{31C4071E-18DA-4C04-9531-3D75DAAC05BE}">
      <dsp:nvSpPr>
        <dsp:cNvPr id="0" name=""/>
        <dsp:cNvSpPr/>
      </dsp:nvSpPr>
      <dsp:spPr>
        <a:xfrm>
          <a:off x="4010642" y="0"/>
          <a:ext cx="2715519" cy="1629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Creating an Application Diagram</a:t>
          </a:r>
        </a:p>
      </dsp:txBody>
      <dsp:txXfrm>
        <a:off x="4010642" y="0"/>
        <a:ext cx="2715519" cy="1629311"/>
      </dsp:txXfrm>
    </dsp:sp>
    <dsp:sp modelId="{CE64C546-85A9-4063-88C0-7F90E0BD751D}">
      <dsp:nvSpPr>
        <dsp:cNvPr id="0" name=""/>
        <dsp:cNvSpPr/>
      </dsp:nvSpPr>
      <dsp:spPr>
        <a:xfrm>
          <a:off x="2028042" y="1627511"/>
          <a:ext cx="6680177" cy="596267"/>
        </a:xfrm>
        <a:custGeom>
          <a:avLst/>
          <a:gdLst/>
          <a:ahLst/>
          <a:cxnLst/>
          <a:rect l="0" t="0" r="0" b="0"/>
          <a:pathLst>
            <a:path>
              <a:moveTo>
                <a:pt x="6680177" y="0"/>
              </a:moveTo>
              <a:lnTo>
                <a:pt x="6680177" y="315233"/>
              </a:lnTo>
              <a:lnTo>
                <a:pt x="0" y="315233"/>
              </a:lnTo>
              <a:lnTo>
                <a:pt x="0" y="59626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00392" y="1922522"/>
        <a:ext cx="335476" cy="6245"/>
      </dsp:txXfrm>
    </dsp:sp>
    <dsp:sp modelId="{90B16147-B296-495B-9F39-B32515F3AA9F}">
      <dsp:nvSpPr>
        <dsp:cNvPr id="0" name=""/>
        <dsp:cNvSpPr/>
      </dsp:nvSpPr>
      <dsp:spPr>
        <a:xfrm>
          <a:off x="7350460" y="0"/>
          <a:ext cx="2715519" cy="1629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Identifying Threats</a:t>
          </a:r>
        </a:p>
      </dsp:txBody>
      <dsp:txXfrm>
        <a:off x="7350460" y="0"/>
        <a:ext cx="2715519" cy="1629311"/>
      </dsp:txXfrm>
    </dsp:sp>
    <dsp:sp modelId="{11DFCA83-AE3A-43AB-A6D6-41FFD29BE609}">
      <dsp:nvSpPr>
        <dsp:cNvPr id="0" name=""/>
        <dsp:cNvSpPr/>
      </dsp:nvSpPr>
      <dsp:spPr>
        <a:xfrm>
          <a:off x="3384001" y="3025114"/>
          <a:ext cx="5942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220" y="45720"/>
              </a:lnTo>
              <a:lnTo>
                <a:pt x="314220" y="48017"/>
              </a:lnTo>
              <a:lnTo>
                <a:pt x="594241" y="4801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5501" y="3067711"/>
        <a:ext cx="31242" cy="6245"/>
      </dsp:txXfrm>
    </dsp:sp>
    <dsp:sp modelId="{0F47E5D6-176D-46DC-BD9D-B3B85AAB8B1E}">
      <dsp:nvSpPr>
        <dsp:cNvPr id="0" name=""/>
        <dsp:cNvSpPr/>
      </dsp:nvSpPr>
      <dsp:spPr>
        <a:xfrm>
          <a:off x="670282" y="2256178"/>
          <a:ext cx="2715519" cy="1629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Mitigating Threats</a:t>
          </a:r>
        </a:p>
      </dsp:txBody>
      <dsp:txXfrm>
        <a:off x="670282" y="2256178"/>
        <a:ext cx="2715519" cy="1629311"/>
      </dsp:txXfrm>
    </dsp:sp>
    <dsp:sp modelId="{724A672C-BAC8-4E76-9EB3-1742A71FF8E2}">
      <dsp:nvSpPr>
        <dsp:cNvPr id="0" name=""/>
        <dsp:cNvSpPr/>
      </dsp:nvSpPr>
      <dsp:spPr>
        <a:xfrm>
          <a:off x="4010642" y="2258476"/>
          <a:ext cx="2715519" cy="1629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Validating Threat Have Been Mitigated </a:t>
          </a:r>
        </a:p>
      </dsp:txBody>
      <dsp:txXfrm>
        <a:off x="4010642" y="2258476"/>
        <a:ext cx="2715519" cy="16293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FA6BD-F6C0-4B2E-8CA1-885C7A2F0061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24C84-086F-43A7-825E-CCC1E2647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3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AB0CE-4A98-4113-ACF1-F17A346336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66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DevOps is a philosophy and practice focused on agility, collaboration, and automation within IT and development team processes.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 is the response to the “us vs. them” culture of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4C84-086F-43A7-825E-CCC1E2647B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05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4C84-086F-43A7-825E-CCC1E2647B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3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4C84-086F-43A7-825E-CCC1E2647B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7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4C84-086F-43A7-825E-CCC1E2647B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60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4C84-086F-43A7-825E-CCC1E2647B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32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Threat modeling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 us how good threat modeling looks like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 about the process, ways, how, and why?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Supposed to help people think like the bad guy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4C84-086F-43A7-825E-CCC1E2647B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8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29A8-F8AB-4CB4-B369-DC67E302C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DEFA3-AF6B-4239-906E-AF7FE991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4E75B-1D14-49D3-BE5B-C45DA230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0D4D5-3D33-4D60-9855-A4BE2C24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5FB31-5638-4D74-A0DB-3B37EC11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F23C-AA79-4165-8851-64C51D3C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745D9-A185-4B8D-9B5E-C6D359242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A0B29-6534-4D12-AB22-F6DC5366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A5408-F389-4093-AB09-4B1FB8E2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2CEB8-88C7-4E8A-96EA-32153558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1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8E65-83CF-4C90-9D71-1BF09E63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3C526-C5CE-4A4B-9DA0-86E7C4217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BE280-2D8A-49E0-95AC-27AB8A97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A524D-0D53-4DFD-93E3-D8538909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2CFE5-864F-4652-8F78-EF505DB7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3897-4EBB-4BD5-BFCE-0A46F6C4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6CD8D-9030-486A-A611-322A1F957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6EC6B-79FC-4282-9748-EF511D606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1D956-32E2-491C-B883-BDF63CC0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CB217-8977-4624-8411-1C08E9C5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93F1A-A261-4605-A9D6-6060BC6A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8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6DC7-2D59-4A56-8B41-09F87BC91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04117-DC68-449B-8B36-3343EFF01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352F6-C5DD-49DF-A8AE-BF0A5D4B2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BC852-C8B5-4943-A9A9-F631877E3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6C05A-5E88-4210-A8C4-301A7BE57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A7660-AFEB-4C2D-ABE1-50896227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C0B10-BCFD-4BB6-A76F-5AD0D305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0EA82-6744-4017-A3CA-DC378E5F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6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3B4F-5618-4738-9ADF-915AC74B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9AC38-C1C3-4E3B-B31E-9FFFB18B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9C3F6-BC8E-492E-ACBE-6E3F11EF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34446-08C5-443A-81A3-61ADAC2C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8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D60A87-2148-4B41-9F6B-C403B7FC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6B16D-6841-4F00-8EA8-B3B30745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60D06-AD23-4543-AE11-C47825E6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2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E69C-0A11-412A-BA37-89D0A4B6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57CF1-FEAB-4ECE-98AF-36791C46C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4959C-17E7-4960-980B-4E844BDDC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130E3-FED1-4769-8654-32B845551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C80D1-7B2E-473C-8A40-22683C49A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3368C-AC4B-4317-9EAE-ED7F1766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9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6025-7CE2-4B5F-8B17-1008C0F29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9B8D15-5ADA-400D-8330-A71646DD6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18A5B-3029-4317-AF64-30FC77D63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A1057-2206-4523-9330-DCCDF3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44D7A-27EB-44FE-9B4D-76BA7E52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5B155-758F-4B13-A68C-3F5D8364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5F21-30EF-46EE-8271-AFF72EAF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D8B26-9B5C-4721-BE4C-000236521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5C43-BBEF-4998-8E38-90589ADC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D0978-893C-4393-A221-4512B959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6BA00-EBD1-47A9-9E88-49DE5A65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4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08DEB6-D94C-49F2-AE87-7F22E5DC8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F1B25-3B6C-4ADD-8CCD-0FB347C9F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E482-A542-40F9-A711-BEA9EB0E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5B4EA-4CB6-4225-AAAD-178CFC0F0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1029D-4F45-49F0-8CB2-5A292837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79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4" r="29043" b="3039"/>
          <a:stretch/>
        </p:blipFill>
        <p:spPr>
          <a:xfrm>
            <a:off x="3526911" y="1"/>
            <a:ext cx="8665091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6513" y="2"/>
            <a:ext cx="7073356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n>
                <a:noFill/>
              </a:ln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058761"/>
            <a:ext cx="6781800" cy="852008"/>
          </a:xfrm>
        </p:spPr>
        <p:txBody>
          <a:bodyPr>
            <a:noAutofit/>
          </a:bodyPr>
          <a:lstStyle>
            <a:lvl1pPr marL="0" indent="0" algn="r">
              <a:buNone/>
              <a:defRPr sz="3733" b="1">
                <a:solidFill>
                  <a:schemeClr val="accent1"/>
                </a:solidFill>
                <a:latin typeface="+mj-lt"/>
                <a:cs typeface="Avenir Heavy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" hasCustomPrompt="1"/>
          </p:nvPr>
        </p:nvSpPr>
        <p:spPr>
          <a:xfrm>
            <a:off x="-6514" y="2788813"/>
            <a:ext cx="6788313" cy="895351"/>
          </a:xfrm>
        </p:spPr>
        <p:txBody>
          <a:bodyPr>
            <a:noAutofit/>
          </a:bodyPr>
          <a:lstStyle>
            <a:lvl1pPr marL="0" indent="0" algn="r">
              <a:buNone/>
              <a:defRPr sz="3200">
                <a:solidFill>
                  <a:schemeClr val="accent2"/>
                </a:solidFill>
                <a:latin typeface="+mn-lt"/>
                <a:cs typeface="Avenir Medium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-6514" y="3478743"/>
            <a:ext cx="6788313" cy="895349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+mn-lt"/>
                <a:cs typeface="Avenir Medium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Picture 11" descr="omnitracs_logoNEWTAGLINE-01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7" t="37962" r="29384" b="42197"/>
          <a:stretch/>
        </p:blipFill>
        <p:spPr>
          <a:xfrm>
            <a:off x="4077306" y="5738034"/>
            <a:ext cx="2704495" cy="1004711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217991" y="6378364"/>
            <a:ext cx="35262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/>
            </a:pPr>
            <a:r>
              <a:rPr lang="en-US" sz="800" b="0" i="0" u="none" strike="noStrike" kern="1200" baseline="0" dirty="0">
                <a:solidFill>
                  <a:schemeClr val="bg1">
                    <a:lumMod val="75000"/>
                  </a:schemeClr>
                </a:solidFill>
                <a:latin typeface="Avenir 35 Light" pitchFamily="34" charset="0"/>
                <a:ea typeface="+mn-ea"/>
                <a:cs typeface="+mn-cs"/>
              </a:rPr>
              <a:t>© 2015 Omnitracs, LLC. All rights reserved.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Avenir 35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92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8" t="6022" r="45008"/>
          <a:stretch/>
        </p:blipFill>
        <p:spPr>
          <a:xfrm>
            <a:off x="0" y="0"/>
            <a:ext cx="1128891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603088" y="0"/>
            <a:ext cx="1158891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11" name="Picture 10" descr="Screen Shot 2015-06-25 at 3.43.43 PM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283" y="5989291"/>
            <a:ext cx="2467428" cy="868709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825131" y="6510673"/>
            <a:ext cx="35262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/>
            </a:pPr>
            <a:r>
              <a:rPr lang="en-US" sz="800" b="0" i="0" u="none" strike="noStrike" kern="1200" baseline="0" dirty="0">
                <a:solidFill>
                  <a:schemeClr val="bg1">
                    <a:lumMod val="75000"/>
                  </a:schemeClr>
                </a:solidFill>
                <a:latin typeface="Avenir 35 Light" pitchFamily="34" charset="0"/>
                <a:ea typeface="+mn-ea"/>
                <a:cs typeface="+mn-cs"/>
              </a:rPr>
              <a:t>© 2015 Omnitracs, LLC. All rights reserved.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Avenir 35 Light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idx="1"/>
          </p:nvPr>
        </p:nvSpPr>
        <p:spPr>
          <a:xfrm>
            <a:off x="846667" y="1983736"/>
            <a:ext cx="10735733" cy="388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1" hasCustomPrompt="1"/>
          </p:nvPr>
        </p:nvSpPr>
        <p:spPr>
          <a:xfrm>
            <a:off x="846667" y="1436429"/>
            <a:ext cx="10735733" cy="528519"/>
          </a:xfrm>
        </p:spPr>
        <p:txBody>
          <a:bodyPr anchor="ctr">
            <a:noAutofit/>
          </a:bodyPr>
          <a:lstStyle>
            <a:lvl1pPr marL="0" indent="0" algn="l">
              <a:buNone/>
              <a:defRPr sz="2667" baseline="0">
                <a:solidFill>
                  <a:schemeClr val="accent2"/>
                </a:solidFill>
                <a:latin typeface="+mn-lt"/>
                <a:cs typeface="Avenir Medium"/>
              </a:defRPr>
            </a:lvl1pPr>
          </a:lstStyle>
          <a:p>
            <a:pPr lvl="0"/>
            <a:r>
              <a:rPr lang="en-US" dirty="0"/>
              <a:t>Click to edit Sub title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9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ED918-9FCD-4390-96CF-50AC7BD3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E1489-DB21-4C98-9E3D-1537FE3E2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DE131-8FD5-4F0D-B755-93AF2BE75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5A880-0E9E-414D-9C09-4EDA23E888A0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3492-481D-4D31-914B-8E14F460F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6DBAE-2705-4979-9521-C20FD8B0D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96274-A5E0-41AA-9441-00C4C2C7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0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3201" y="2246904"/>
            <a:ext cx="6788313" cy="852008"/>
          </a:xfrm>
        </p:spPr>
        <p:txBody>
          <a:bodyPr/>
          <a:lstStyle/>
          <a:p>
            <a:r>
              <a:rPr lang="en-US" sz="4800" dirty="0">
                <a:solidFill>
                  <a:schemeClr val="accent6"/>
                </a:solidFill>
              </a:rPr>
              <a:t>Proper Threat Modeling Techniques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203201" y="3964369"/>
            <a:ext cx="6788313" cy="523408"/>
          </a:xfrm>
        </p:spPr>
        <p:txBody>
          <a:bodyPr/>
          <a:lstStyle/>
          <a:p>
            <a:r>
              <a:rPr lang="en-US" dirty="0"/>
              <a:t>Dexter Law</a:t>
            </a:r>
          </a:p>
        </p:txBody>
      </p:sp>
    </p:spTree>
    <p:extLst>
      <p:ext uri="{BB962C8B-B14F-4D97-AF65-F5344CB8AC3E}">
        <p14:creationId xmlns:p14="http://schemas.microsoft.com/office/powerpoint/2010/main" val="323636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9FAA2-DB31-4F8F-8984-7DA01546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12078"/>
            <a:ext cx="10735733" cy="388767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Automation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Automate everything from workflows to testing new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Iteration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Write smalls chunks of code during a time-box sprint to support releases and rereleases that increase the speed and frequency of deployment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Continuous Improvement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Continuously test, learn from failures, and act on feedback in order to optimize performance, cost and time to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Collaboration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Unite teams, foster communication and breakdown silos between deployment, IT operations, and quality assurance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D878-D6F5-467D-AB8D-E1DADE6CE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387442"/>
            <a:ext cx="10735733" cy="528519"/>
          </a:xfrm>
        </p:spPr>
        <p:txBody>
          <a:bodyPr/>
          <a:lstStyle/>
          <a:p>
            <a:r>
              <a:rPr lang="en-US" dirty="0"/>
              <a:t>With the goal of closing the gap between IT operations and development to improve communication/collaboration and align objectives faster and more efficiently delivery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F1CBD6-EA5D-4107-B2BA-62B4C699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31"/>
            <a:ext cx="10515600" cy="875723"/>
          </a:xfrm>
        </p:spPr>
        <p:txBody>
          <a:bodyPr/>
          <a:lstStyle/>
          <a:p>
            <a:r>
              <a:rPr lang="en-US" dirty="0"/>
              <a:t>DevOps Principles</a:t>
            </a:r>
          </a:p>
        </p:txBody>
      </p:sp>
    </p:spTree>
    <p:extLst>
      <p:ext uri="{BB962C8B-B14F-4D97-AF65-F5344CB8AC3E}">
        <p14:creationId xmlns:p14="http://schemas.microsoft.com/office/powerpoint/2010/main" val="357708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9FAA2-DB31-4F8F-8984-7DA01546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6" y="3659347"/>
            <a:ext cx="10555392" cy="3632754"/>
          </a:xfrm>
        </p:spPr>
        <p:txBody>
          <a:bodyPr>
            <a:normAutofit/>
          </a:bodyPr>
          <a:lstStyle/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It’s about understanding your system in a risk-based way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Offers a strategic practice by which you can think about system characteristics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Provides visibility into weaknesses that may affect not only the application, but potentially the entire organization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D878-D6F5-467D-AB8D-E1DADE6CE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8266" y="2095045"/>
            <a:ext cx="10752667" cy="875722"/>
          </a:xfrm>
        </p:spPr>
        <p:txBody>
          <a:bodyPr/>
          <a:lstStyle/>
          <a:p>
            <a:r>
              <a:rPr lang="en-US" dirty="0"/>
              <a:t>Threat Modeling a technique used to help you identify</a:t>
            </a:r>
          </a:p>
          <a:p>
            <a:r>
              <a:rPr lang="en-US" b="1" dirty="0"/>
              <a:t>Threats</a:t>
            </a:r>
            <a:r>
              <a:rPr lang="en-US" dirty="0"/>
              <a:t>, </a:t>
            </a:r>
            <a:r>
              <a:rPr lang="en-US" b="1" dirty="0"/>
              <a:t>Attacks</a:t>
            </a:r>
            <a:r>
              <a:rPr lang="en-US" dirty="0"/>
              <a:t>, </a:t>
            </a:r>
            <a:r>
              <a:rPr lang="en-US" b="1" dirty="0"/>
              <a:t>Vulnerabilities</a:t>
            </a:r>
            <a:r>
              <a:rPr lang="en-US" dirty="0"/>
              <a:t>, and </a:t>
            </a:r>
            <a:r>
              <a:rPr lang="en-US" b="1" dirty="0"/>
              <a:t>Countermeasures</a:t>
            </a:r>
          </a:p>
          <a:p>
            <a:r>
              <a:rPr lang="en-US" dirty="0"/>
              <a:t>that could affect your </a:t>
            </a:r>
            <a:r>
              <a:rPr lang="en-US" b="1" dirty="0"/>
              <a:t>applications, </a:t>
            </a:r>
            <a:r>
              <a:rPr lang="en-US" dirty="0"/>
              <a:t>software, systems, networks, and</a:t>
            </a:r>
          </a:p>
          <a:p>
            <a:r>
              <a:rPr lang="en-US" dirty="0"/>
              <a:t>business processes, etc.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F1CBD6-EA5D-4107-B2BA-62B4C699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266" y="437171"/>
            <a:ext cx="10515600" cy="875723"/>
          </a:xfrm>
        </p:spPr>
        <p:txBody>
          <a:bodyPr/>
          <a:lstStyle/>
          <a:p>
            <a:r>
              <a:rPr lang="en-US" dirty="0"/>
              <a:t>What is Threat Modeling?</a:t>
            </a:r>
          </a:p>
        </p:txBody>
      </p:sp>
    </p:spTree>
    <p:extLst>
      <p:ext uri="{BB962C8B-B14F-4D97-AF65-F5344CB8AC3E}">
        <p14:creationId xmlns:p14="http://schemas.microsoft.com/office/powerpoint/2010/main" val="409294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91A289-F51E-4310-9FA0-9F45A1CCB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7" y="2318273"/>
            <a:ext cx="10735733" cy="3887675"/>
          </a:xfrm>
        </p:spPr>
        <p:txBody>
          <a:bodyPr numCol="1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Build a secure design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Efficient investment of resources; appropriately prioritizing security, development, and other task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Bringing security and development together to collaborate on shared understanding, informing development of the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Identify threats and compliance requirements, and evaluate their risk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Define and build required controls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396C9-2BA5-4D09-9316-AB1840BAA0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6667" y="1491789"/>
            <a:ext cx="10735733" cy="528519"/>
          </a:xfrm>
        </p:spPr>
        <p:txBody>
          <a:bodyPr/>
          <a:lstStyle/>
          <a:p>
            <a:r>
              <a:rPr lang="en-US" dirty="0"/>
              <a:t>Including threat modeling in the Software Development Lifecycle/DevOps toolchain can help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343AE4-47D2-41E3-9375-0FDF7245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7" y="444326"/>
            <a:ext cx="10515600" cy="749498"/>
          </a:xfrm>
        </p:spPr>
        <p:txBody>
          <a:bodyPr/>
          <a:lstStyle/>
          <a:p>
            <a:r>
              <a:rPr lang="en-US" dirty="0"/>
              <a:t>The Purpose</a:t>
            </a:r>
          </a:p>
        </p:txBody>
      </p:sp>
    </p:spTree>
    <p:extLst>
      <p:ext uri="{BB962C8B-B14F-4D97-AF65-F5344CB8AC3E}">
        <p14:creationId xmlns:p14="http://schemas.microsoft.com/office/powerpoint/2010/main" val="3416176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91A289-F51E-4310-9FA0-9F45A1CCB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7" y="2318273"/>
            <a:ext cx="10735733" cy="3887675"/>
          </a:xfrm>
        </p:spPr>
        <p:txBody>
          <a:bodyPr numCol="1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description / design / model of what of the whatever you’re building or worrying about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list of assumptions that can be checked / challenged I the sure as the threat landscape changes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list of potential threats to the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list of actions to be taken for each threat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way of validating the model and threats, and verification o success of actions taken for each threat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way of validating the model and threats, and varication of sues of actions taken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396C9-2BA5-4D09-9316-AB1840BAA0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6667" y="1600827"/>
            <a:ext cx="10735733" cy="528519"/>
          </a:xfrm>
        </p:spPr>
        <p:txBody>
          <a:bodyPr/>
          <a:lstStyle/>
          <a:p>
            <a:r>
              <a:rPr lang="en-US" dirty="0"/>
              <a:t>Your threat model should include the following: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343AE4-47D2-41E3-9375-0FDF7245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02"/>
            <a:ext cx="10515600" cy="749498"/>
          </a:xfrm>
        </p:spPr>
        <p:txBody>
          <a:bodyPr/>
          <a:lstStyle/>
          <a:p>
            <a:r>
              <a:rPr lang="en-US" dirty="0"/>
              <a:t>What to include</a:t>
            </a:r>
          </a:p>
        </p:txBody>
      </p:sp>
    </p:spTree>
    <p:extLst>
      <p:ext uri="{BB962C8B-B14F-4D97-AF65-F5344CB8AC3E}">
        <p14:creationId xmlns:p14="http://schemas.microsoft.com/office/powerpoint/2010/main" val="85967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91A289-F51E-4310-9FA0-9F45A1CCB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7" y="2486183"/>
            <a:ext cx="10735733" cy="3887675"/>
          </a:xfrm>
        </p:spPr>
        <p:txBody>
          <a:bodyPr numCol="1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Balance risk, controls, and usability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Identify where building a control is unnecessary, based on acceptable risk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Document threats and mitigation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Ensure business goals are protected in the face of malicious actors, accidents,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Identification of security test cases / security test scenarios to test the security requirements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396C9-2BA5-4D09-9316-AB1840BAA0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6666" y="1428576"/>
            <a:ext cx="10735733" cy="883025"/>
          </a:xfrm>
        </p:spPr>
        <p:txBody>
          <a:bodyPr/>
          <a:lstStyle/>
          <a:p>
            <a:r>
              <a:rPr lang="en-US" dirty="0"/>
              <a:t>Including threat modeling in the Software Development Lifecycle/DevOps toolchain can help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343AE4-47D2-41E3-9375-0FDF7245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6" y="484142"/>
            <a:ext cx="10515600" cy="1077029"/>
          </a:xfrm>
        </p:spPr>
        <p:txBody>
          <a:bodyPr>
            <a:normAutofit/>
          </a:bodyPr>
          <a:lstStyle/>
          <a:p>
            <a:r>
              <a:rPr lang="en-US" dirty="0"/>
              <a:t>The Purpose</a:t>
            </a:r>
          </a:p>
        </p:txBody>
      </p:sp>
    </p:spTree>
    <p:extLst>
      <p:ext uri="{BB962C8B-B14F-4D97-AF65-F5344CB8AC3E}">
        <p14:creationId xmlns:p14="http://schemas.microsoft.com/office/powerpoint/2010/main" val="401987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9FAA2-DB31-4F8F-8984-7DA01546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03" y="2474131"/>
            <a:ext cx="10555392" cy="363275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800" dirty="0"/>
              <a:t>At the earlier stages of the Software Development Lifecycle/DevOps toolchain, perform threat modeling: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Every time there is a change in system architecture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After  security incident has occurred or new vulnerabilities are introduced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800" dirty="0"/>
              <a:t>As soon as architecture is ready</a:t>
            </a:r>
          </a:p>
          <a:p>
            <a:pPr marL="0" lvl="1" indent="0">
              <a:buNone/>
            </a:pPr>
            <a:r>
              <a:rPr lang="en-US" sz="2800" dirty="0"/>
              <a:t>The more the better!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D878-D6F5-467D-AB8D-E1DADE6CE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199" y="1416218"/>
            <a:ext cx="10752667" cy="875722"/>
          </a:xfrm>
        </p:spPr>
        <p:txBody>
          <a:bodyPr/>
          <a:lstStyle/>
          <a:p>
            <a:r>
              <a:rPr lang="en-US" dirty="0"/>
              <a:t>The motto: “Threat modeling: the sooner the better, but never too late,”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F1CBD6-EA5D-4107-B2BA-62B4C699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40495"/>
            <a:ext cx="10515600" cy="875723"/>
          </a:xfrm>
        </p:spPr>
        <p:txBody>
          <a:bodyPr/>
          <a:lstStyle/>
          <a:p>
            <a:r>
              <a:rPr lang="en-US" dirty="0"/>
              <a:t>When to use Threat Modeling</a:t>
            </a:r>
          </a:p>
        </p:txBody>
      </p:sp>
    </p:spTree>
    <p:extLst>
      <p:ext uri="{BB962C8B-B14F-4D97-AF65-F5344CB8AC3E}">
        <p14:creationId xmlns:p14="http://schemas.microsoft.com/office/powerpoint/2010/main" val="76512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D878-D6F5-467D-AB8D-E1DADE6CE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6667" y="1309353"/>
            <a:ext cx="10735733" cy="1265916"/>
          </a:xfrm>
        </p:spPr>
        <p:txBody>
          <a:bodyPr/>
          <a:lstStyle/>
          <a:p>
            <a:r>
              <a:rPr lang="en-US" dirty="0"/>
              <a:t>Threat modeling should be apart of your routine development lifecycle, enabling you to progressively refine your threat model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F1CBD6-EA5D-4107-B2BA-62B4C699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138" y="512309"/>
            <a:ext cx="10515600" cy="797044"/>
          </a:xfrm>
        </p:spPr>
        <p:txBody>
          <a:bodyPr/>
          <a:lstStyle/>
          <a:p>
            <a:r>
              <a:rPr lang="en-US" dirty="0"/>
              <a:t>Major steps in threat modeling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D692197-C459-44F2-BD0D-B8305542B1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791296"/>
              </p:ext>
            </p:extLst>
          </p:nvPr>
        </p:nvGraphicFramePr>
        <p:xfrm>
          <a:off x="846138" y="2278289"/>
          <a:ext cx="10736262" cy="388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171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9FAA2-DB31-4F8F-8984-7DA015461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 Personas</a:t>
            </a:r>
          </a:p>
          <a:p>
            <a:r>
              <a:rPr lang="en-US" dirty="0"/>
              <a:t>Evil User Stories</a:t>
            </a:r>
          </a:p>
          <a:p>
            <a:r>
              <a:rPr lang="en-US" dirty="0"/>
              <a:t>Raindance</a:t>
            </a:r>
          </a:p>
          <a:p>
            <a:r>
              <a:rPr lang="en-US" dirty="0"/>
              <a:t>Mozilla Rapid Risk Assessment</a:t>
            </a:r>
          </a:p>
          <a:p>
            <a:r>
              <a:rPr lang="en-US" dirty="0"/>
              <a:t>OWASP </a:t>
            </a:r>
            <a:r>
              <a:rPr lang="en-US" dirty="0" err="1"/>
              <a:t>ThreatDragon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D878-D6F5-467D-AB8D-E1DADE6CE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F1CBD6-EA5D-4107-B2BA-62B4C699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 Personas</a:t>
            </a:r>
          </a:p>
        </p:txBody>
      </p:sp>
    </p:spTree>
    <p:extLst>
      <p:ext uri="{BB962C8B-B14F-4D97-AF65-F5344CB8AC3E}">
        <p14:creationId xmlns:p14="http://schemas.microsoft.com/office/powerpoint/2010/main" val="236919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9AF5-3285-47FD-BD73-1F5B00527F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The Prompt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613FB-EEFB-4450-B359-1C129C366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500" dirty="0"/>
              <a:t>Threat modeling</a:t>
            </a:r>
            <a:br>
              <a:rPr lang="en-US" sz="3500" dirty="0"/>
            </a:br>
            <a:r>
              <a:rPr lang="en-US" sz="3500" dirty="0"/>
              <a:t>Teach us how good threat modeling looks like</a:t>
            </a:r>
            <a:br>
              <a:rPr lang="en-US" sz="3500" dirty="0"/>
            </a:br>
            <a:r>
              <a:rPr lang="en-US" sz="3500" dirty="0"/>
              <a:t>Learn about the process, ways, how, and why?</a:t>
            </a:r>
            <a:br>
              <a:rPr lang="en-US" sz="3500" dirty="0"/>
            </a:br>
            <a:r>
              <a:rPr lang="en-US" sz="3500" dirty="0"/>
              <a:t>Supposed to help people think like the bad guy</a:t>
            </a:r>
            <a:br>
              <a:rPr lang="en-US" sz="3500" dirty="0"/>
            </a:br>
            <a:endParaRPr lang="en-US" sz="3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1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23916</TotalTime>
  <Words>651</Words>
  <Application>Microsoft Office PowerPoint</Application>
  <PresentationFormat>Widescreen</PresentationFormat>
  <Paragraphs>78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35 Light</vt:lpstr>
      <vt:lpstr>Calibri</vt:lpstr>
      <vt:lpstr>Calibri Light</vt:lpstr>
      <vt:lpstr>Wingdings</vt:lpstr>
      <vt:lpstr>Office Theme</vt:lpstr>
      <vt:lpstr>PowerPoint Presentation</vt:lpstr>
      <vt:lpstr>DevOps Principles</vt:lpstr>
      <vt:lpstr>What is Threat Modeling?</vt:lpstr>
      <vt:lpstr>The Purpose</vt:lpstr>
      <vt:lpstr>What to include</vt:lpstr>
      <vt:lpstr>The Purpose</vt:lpstr>
      <vt:lpstr>When to use Threat Modeling</vt:lpstr>
      <vt:lpstr>Major steps in threat modeling</vt:lpstr>
      <vt:lpstr>Attack Personas</vt:lpstr>
      <vt:lpstr>The Prompt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Dexter Law</dc:creator>
  <cp:lastModifiedBy>Dexter Law</cp:lastModifiedBy>
  <cp:revision>30</cp:revision>
  <dcterms:created xsi:type="dcterms:W3CDTF">2020-10-24T02:47:52Z</dcterms:created>
  <dcterms:modified xsi:type="dcterms:W3CDTF">2021-05-12T13:39:31Z</dcterms:modified>
</cp:coreProperties>
</file>